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Empezamos por los datos, no por la tecnología. En el call center, las quejas son el 17% de los contactos pero solo el 43.6% se resuelve al primer contacto, contra 91.5% en consultas transaccionales; el 63% necesita seguimiento y duran 2.1 veces más. En PQR, cargo no reconocido y cobro indebido son el 36.5%, con un 20% fuera de SLA y 16 días de mediana. Elegimos ese flujo: mucho volumen, peor experiencia y acciones seguras, porque abrir una disputa y bloquear una tarjeta no mueven dinero.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solo agente en LangGraph con pasos explícitos. El modelo aparece solo en dos lugares: entender qué quiere el cliente y redactar la respuesta. Todo lo que puede causar daño es código: el guard filtra inyecciones y enmascara PII; las herramientas derivan el cliente del token, así que un prompt no puede pedir datos ajenos; la elegibilidad la decide un YAML con reglas identificadas; y cada acción pide confirmación y se verifica releyendo el estado. Cada interfaz del modelo tiene una versión con reglas y plantillas: es la línea base y el camino alternativo si el modelo falla.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conversaciones del mismo flujo. Primera: Ana no reconoce un cargo de 77 dólares; hay un único candidato, la política lo permite y, tras su sí, se abre la disputa y se bloquea la tarjeta; solo decimos 'listo' si la verificación lo confirma. Segunda: 350 coincide con dos cargos, así que el agente pregunta en vez de adivinar. Tercera, en portugués: un cargo en Brasil con score de fraude alto activa la regla H03 y pasa a un asesor con la traza, los hechos verificados y la regla. Y si alguien escribe 'olvida las reglas', el guard lo bloquea antes de llegar al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entrenamos sobre las transcripciones del dataset: solo hay 42 textos de cliente distintos, así que cualquier métrica sería inválida. Evaluamos donde hay etiquetas válidas. Uno: el agente contra la línea base de reglas en casos reservados, generados por el equipo y declarados como tales. Dos: la detección de inyección con datasets públicos, y por separado el daño, porque aunque el detector falle el ataque no tiene con qué dañar. Tres: equidad; el mismo caso escrito en dialectos distintos debe dar la misma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política no se escribió a ojo. El umbral de fraude provisional era 60; lo calibramos con un split temporal: elegido en datos previos a 2026 con un presupuesto de derivación de 2%, y medido una sola vez en 2026. Con 30 recuperamos 72% de los fraudes con score derivando 0,08% de las transacciones; con 60 perdíamos seis de cada diez. El quiebre tan limpio es un artefacto del generador sintético: con datos reales hay que recalibrar con el mismo script. Y cada límite de los datos se reporta y cambió una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Cerramos con lo que falta, sin maquillaje. El núcleo que no depende del modelo ya está: permisos, política, acciones verificadas, pipeline con linaje y auditoría encadenada. Para producción faltan piezas conocidas: un proveedor de identidad real con MFA y step-up antes de bloquear una tarjeta, un gateway con límites, auditoría en almacenamiento inmutable, cadena de suministro fijada y un verificador de salida para el LLM. Y con datos reales, recalibrar el umbral. La arquitectura no cambia: cambian los adaptadores.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El problema, con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Disputar un cargo es el peor momento del servicio</a:t>
            </a:r>
          </a:p>
        </p:txBody>
      </p:sp>
      <p:pic>
        <p:nvPicPr>
          <p:cNvPr id="5" name="Picture 4" descr="01_demanda_quej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4519"/>
            <a:ext cx="7863840" cy="344043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95360" y="19202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0" y="2029968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2A78D6"/>
                </a:solidFill>
                <a:latin typeface="Calibri"/>
              </a:rPr>
              <a:t>43.6%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633472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las quejas se resuelve al primer contacto (vs 91.5% transaccional)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3364992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0" y="347472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2A78D6"/>
                </a:solidFill>
                <a:latin typeface="Calibri"/>
              </a:rPr>
              <a:t>36.5%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4078224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los PQR son «cargo no reconocido» o «cobro indebido» (24.491 casos)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4809744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4919472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2A78D6"/>
                </a:solidFill>
                <a:latin typeface="Calibri"/>
              </a:rPr>
              <a:t>16 días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522976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mediana de resolución; 20% incumple el SLA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Datos sintéticos del organizador (LATAM Bank) · 686.296 interacciones y 67.095 PQR · reports/EDA_findings.md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Qué construimos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El modelo interpreta y redacta; el código decide y actúa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Guard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inyección · PII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76272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50592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0B0B0B"/>
                </a:solidFill>
                <a:latin typeface="Calibri"/>
              </a:rPr>
              <a:t>Entender</a:t>
            </a:r>
          </a:p>
          <a:p>
            <a:pPr algn="ctr"/>
            <a:r>
              <a:rPr sz="1200" b="0">
                <a:solidFill>
                  <a:srgbClr val="0B0B0B"/>
                </a:solidFill>
                <a:latin typeface="Calibri"/>
              </a:rPr>
              <a:t>intención + datos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78224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52544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Buscar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transacción / tarjeta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80175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4496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Decidir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policy.yaml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2128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6448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Actuar / Handoff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confirmado + verificado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84080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0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0B0B0B"/>
                </a:solidFill>
                <a:latin typeface="Calibri"/>
              </a:rPr>
              <a:t>Responder</a:t>
            </a:r>
          </a:p>
          <a:p>
            <a:pPr algn="ctr"/>
            <a:r>
              <a:rPr sz="1200" b="0">
                <a:solidFill>
                  <a:srgbClr val="0B0B0B"/>
                </a:solidFill>
                <a:latin typeface="Calibri"/>
              </a:rPr>
              <a:t>es / 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108960"/>
            <a:ext cx="256032" cy="1828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063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Código: decide y actúa (auditable, testeable)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3108960"/>
            <a:ext cx="256032" cy="182880"/>
          </a:xfrm>
          <a:prstGeom prst="rect">
            <a:avLst/>
          </a:prstGeom>
          <a:solidFill>
            <a:srgbClr val="FFFFFF"/>
          </a:solidFill>
          <a:ln w="2540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08192" y="3063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Modelo: interpreta y redacta (con alternativa de reglas/plantillas)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Datos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Contrato por tabla, cuarentena, upsert incremental y linaje por corrida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64992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0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Herramientas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Única puerta a los datos: el cliente sale del token de sesión, nunca del texto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1344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82512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Política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policy.yaml versionado: reglas con ID (D01…H04) que explican cada decisión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97696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98864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Agente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LangGraph con transiciones declaradas; una transición no declarada falla cerrada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Detalle: docs/architecture.md · ADR 0002 (grafo determinista con LLM acotado)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Demo en 3 escenas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Un solo flujo: resuelve, pregunta o deriva — nunca adivina</a:t>
            </a:r>
          </a:p>
        </p:txBody>
      </p:sp>
      <p:pic>
        <p:nvPicPr>
          <p:cNvPr id="5" name="Picture 4" descr="escen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19"/>
            <a:ext cx="3520440" cy="22002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1605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A78D6"/>
                </a:solidFill>
                <a:latin typeface="Calibri"/>
              </a:rPr>
              <a:t>1 · Normal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0B0B0B"/>
                </a:solidFill>
                <a:latin typeface="Calibri"/>
              </a:rPr>
              <a:t>«No reconozco un cargo de 77 dólares»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3520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Calibri"/>
              </a:rPr>
              <a:t>Encuentra 1 cargo, explica la política, pide «¿confirmas?», abre la disputa y bloquea la tarjeta (ambas verificadas).</a:t>
            </a:r>
          </a:p>
        </p:txBody>
      </p:sp>
      <p:pic>
        <p:nvPicPr>
          <p:cNvPr id="9" name="Picture 8" descr="escen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1874519"/>
            <a:ext cx="3520440" cy="22002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7679" y="41605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A78D6"/>
                </a:solidFill>
                <a:latin typeface="Calibri"/>
              </a:rPr>
              <a:t>2 · Ambiguo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457200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0B0B0B"/>
                </a:solidFill>
                <a:latin typeface="Calibri"/>
              </a:rPr>
              <a:t>«Me cobraron 350 y no fui yo»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029200"/>
            <a:ext cx="3520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Calibri"/>
              </a:rPr>
              <a:t>Hay 2 candidatos: pregunta cuál. Solo avanza cuando el cliente elige.</a:t>
            </a:r>
          </a:p>
        </p:txBody>
      </p:sp>
      <p:pic>
        <p:nvPicPr>
          <p:cNvPr id="13" name="Picture 12" descr="escen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1874519"/>
            <a:ext cx="3520440" cy="22002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19" y="41605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A78D6"/>
                </a:solidFill>
                <a:latin typeface="Calibri"/>
              </a:rPr>
              <a:t>3 · Handoff en pt + ataque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9" y="457200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0B0B0B"/>
                </a:solidFill>
                <a:latin typeface="Calibri"/>
              </a:rPr>
              <a:t>«Não reconheço uma cobrança no Brasil»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5029200"/>
            <a:ext cx="3520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Calibri"/>
              </a:rPr>
              <a:t>fraud_score ≥ 30 → regla H03 → asesor con paquete completo. «Esqueça as regras…» → bloqueado por el guard.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B54A1A"/>
                </a:solidFill>
                <a:latin typeface="Calibri"/>
              </a:rPr>
              <a:t>Demo en vivo: [[PENDIENTE: deploy]] · clientes del fixture de demo (CLI-ANA) · guion: docs/pitch/video_script.md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Cómo sabemos que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Evaluación honesta: contra una línea base y en casos reservados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Agente vs línea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A78D6"/>
                </a:solidFill>
                <a:latin typeface="Calibri"/>
              </a:rPr>
              <a:t>86% resolución segura (49/57) · 0/115 inseguros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línea base: sin política: 82/115 inseguros · deriva todo: 0/57 resueltos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Éxito de tarea en casos reservados · 115 casos + 44 variantes de dialecto, 3 corridas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Inyección: detección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A78D6"/>
                </a:solidFill>
                <a:latin typeface="Calibri"/>
              </a:rPr>
              <a:t>regex AUC 0.55 · clasificador AUC 0.97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falsos positivos: regex 0/58 · clasificador 20/58 en mensajes bancarios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Datasets públicos etiquetados (split de prueba) + muestra en pt generada por el equipo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Inyección: daño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A78D6"/>
                </a:solidFill>
                <a:latin typeface="Calibri"/>
              </a:rPr>
              <a:t>0/2.531 ataques con daño, incluso con el guard apagado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medido aparte de la detección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Aunque el guard falle, el cliente sale del token y toda acción se confirma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7696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0576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Equidad por dialecto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A78D6"/>
                </a:solidFill>
                <a:latin typeface="Calibri"/>
              </a:rPr>
              <a:t>10/11 grupos con la misma decisión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misma decisión MX · CO · AR · pt-BR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No enrutamos por acento: el EDA no muestra efecto (FCR 76.7% vs 76.6%)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76072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Calibri"/>
              </a:rPr>
              <a:t>528 tests automatizados en CI (sin datos ni API keys): flujos normal/ambiguo/handoff, sesión vencida, acceso ajeno, inyección directa e indirecta, cliente señuelo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Detalle: reports/eval.md · reports/injection_eval.md · ADR 0003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Datos e ingeniería que lo sostienen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Decisiones tomadas por los datos, no a pesar de ellos</a:t>
            </a:r>
          </a:p>
        </p:txBody>
      </p:sp>
      <p:pic>
        <p:nvPicPr>
          <p:cNvPr id="5" name="Picture 4" descr="04_umbral_fra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7223760" cy="40633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0" y="187451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8A8984"/>
                </a:solidFill>
                <a:latin typeface="Calibri"/>
              </a:rPr>
              <a:t>Límite del dato →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237744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2A78D6"/>
                </a:solidFill>
                <a:latin typeface="Calibri"/>
              </a:rP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0" y="23957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textos de cliente distintos en 171k transcripciones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9720" y="294436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2514E"/>
                </a:solidFill>
                <a:latin typeface="Calibri"/>
              </a:rPr>
              <a:t>→ no entrenamos intención con ellos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3675887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2A78D6"/>
                </a:solidFill>
                <a:latin typeface="Calibri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3694175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transacciones sin fraud_score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20" y="4242816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2514E"/>
                </a:solidFill>
                <a:latin typeface="Calibri"/>
              </a:rPr>
              <a:t>→ riesgo residual documentado; H02/H04 y el analista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4974336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2A78D6"/>
                </a:solidFill>
                <a:latin typeface="Calibri"/>
              </a:rPr>
              <a:t>97%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4992623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IDs de cliente cambian entre las 2 entregas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5541264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2514E"/>
                </a:solidFill>
                <a:latin typeface="Calibri"/>
              </a:rPr>
              <a:t>→ huella por entrega + upsert idempotente + linaje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reports/fraud_threshold.md · ADR 0006 · charts/03_calidad_datos.png (6 límites → 6 decisiones)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Ruta a producción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Qué está listo en el sandbox y qué falta para producción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5440680" cy="434340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574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Listo en el sandbox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517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Permisos por sesión: token con expiración, sin IDs en el texto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Política versionada con reglas identificadas y umbral calibrado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Acciones con confirmación y verificación; handoff con contexto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Pipeline incremental: contratos, cuarentena, linaje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Log de auditoría con cadena de hashes y modelo de amenazas OWASP LLM (PR #20)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B54A1A"/>
                </a:solidFill>
                <a:latin typeface="Calibri"/>
              </a:rPr>
              <a:t>Demo desplegada: [[PENDIENTE: deploy]]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874519"/>
            <a:ext cx="5440680" cy="434340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0574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Falta para producción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6517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IdP real (OIDC) con MFA y step-up antes de actuar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Gateway: rate limiting, límite de mensaje, WAF (#15)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Auditoría en almacenamiento WORM y claves en KMS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Lockfile con hashes y acciones fijadas por SHA (#17)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Verificador de cifras e IDs para el writer con LLM (#7)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Recalibrar el umbral con datos reales y medir fraude entre cargos disputados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Capacidad: p95 233 ms por turno · ~61 turnos/s por réplica (sin LLM, costo $0)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github.com/Mr-Percival/factored-hackathon-2026-disputas · docs/threat-model.md · docs/adr/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