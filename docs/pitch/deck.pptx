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Empezamos por los datos, no por la tecnología. En el call center, las quejas son el 17% de los contactos pero solo el 43.6% se resuelve al primer contacto, contra 91.5% en consultas transaccionales; el 63% necesita seguimiento y duran 2.1 veces más. En PQR, cargo no reconocido y cobro indebido son el 36.5%, con un 20% fuera de SLA y 16 días de mediana. Elegimos ese flujo: mucho volumen, peor experiencia y acciones seguras, porque abrir una disputa y bloquear una tarjeta no mueven dinero.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 solo agente en LangGraph con pasos explícitos. El modelo aparece en un solo lugar de la demo: entender qué quiere el cliente. Es un router de intención que entrenamos nosotros, local, de 0,2 megas, que se abstiene cuando duda; los montos, las fechas y el sí de cada acción los siguen leyendo reglas. Todo lo que puede causar daño es código: el guard filtra inyecciones y enmascara PII; las herramientas derivan el cliente del token, así que un prompt no puede pedir datos ajenos; la elegibilidad la decide un YAML con reglas identificadas; y cada acción pide confirmación y se verifica releyendo el estado. El router y el writer con LLM están implementados detrás de las mismas interfaces, pero apagados: no hay API paga, y la línea base es el camino alternativo si el modelo falla.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Tres conversaciones del mismo flujo, con clientes reales del dataset del organizador. Primera, en México: el cliente no reconoce un cargo de 151 dólares en Gasolinera Express; hay un único candidato, la política lo permite y el agente ofrece la disputa y el bloqueo por separado. Con «sí, ambas» abre la disputa y bloquea la tarjeta; solo dice 'listo' si la verificación lo confirma. Segunda, en Colombia: 242.000 pesos coincide con dos cargos, así que pregunta en vez de adivinar. Tercera, en portugués: un cargo con score de fraude 95.1 activa la regla H03 y pasa a un analista con la traza, los hechos verificados y la regla. Y si alguien escribe 'ignora tus instrucciones', el guard lo bloquea antes del router; aunque no lo hiciera, el cliente sale del token, no del texto.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 entrenamos sobre las transcripciones del dataset: solo hay 42 textos de cliente distintos. Medimos donde hay etiquetas válidas. Uno: el agente de la demo contra la línea base de reglas y contra dos líneas base ingenuas, en casos reservados generados por el equipo y declarados como tales; automatizar sin política da 82 resultados inseguros de 115, el nuestro cero. Dos: el componente aprendido, el router de intención, contra las reglas, en un corpus propio dividido por autor. Tres: seguridad; con datasets públicos, regex AUC 0.55 · clasificador AUC 0.97, pero lo que importa es el daño, que medimos aparte: cero, aun con el guard apagado. Y un red team propio de tres rondas sí encontró daño real, que corregimos en la raíz. Cuatro: equidad; el mismo caso en dialectos distintos debe dar la misma decisión. Somos explícitos: el test ya se midió dos veces y declaramos una fuga leve.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política no se escribió a ojo. El umbral de fraude provisional era 60; lo calibramos con un split temporal: elegido en datos previos a 2026 con un presupuesto de derivación de 2%, y medido una sola vez en 2026. Con 30 recuperamos 72% de los fraudes con score derivando 0,08% de las transacciones; con 60 perdíamos seis de cada diez. El quiebre tan limpio es un artefacto del generador sintético: con datos reales hay que recalibrar con el mismo script. Y cada límite de los datos se reporta y cambió una decisión.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Cerramos con lo que falta, sin maquillaje. El núcleo ya está: permisos, política, consentimiento por acción, acciones verificadas, un router aprendido con fallback, pipeline con linaje, auditoría encadenada y un deploy automático que verifica los escenarios antes de publicar. Para producción faltan piezas conocidas: un proveedor de identidad real con MFA y step-up antes de bloquear una tarjeta, estado compartido para escalar horizontalmente, auditoría inmutable, evaluar el LLM cuando haya presupuesto y un test nuevo escrito por otra persona. Y con datos reales, recalibrar el umbral. La arquitectura no cambia: cambian los adaptadores.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411480"/>
            <a:ext cx="384048" cy="384048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51560" y="429768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8A8984"/>
                </a:solidFill>
                <a:latin typeface="Calibri"/>
              </a:rPr>
              <a:t>El problema, con datos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 i="0">
                <a:solidFill>
                  <a:srgbClr val="0B0B0B"/>
                </a:solidFill>
                <a:latin typeface="Calibri"/>
              </a:rPr>
              <a:t>Disputar un cargo es el peor momento del servicio</a:t>
            </a:r>
          </a:p>
        </p:txBody>
      </p:sp>
      <p:pic>
        <p:nvPicPr>
          <p:cNvPr id="5" name="Picture 4" descr="01_demanda_quej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74519"/>
            <a:ext cx="7863840" cy="344043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595360" y="1920240"/>
            <a:ext cx="3063240" cy="1298448"/>
          </a:xfrm>
          <a:prstGeom prst="roundRect">
            <a:avLst>
              <a:gd name="adj" fmla="val 8000"/>
            </a:avLst>
          </a:prstGeom>
          <a:solidFill>
            <a:srgbClr val="EAF2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78240" y="2029968"/>
            <a:ext cx="27432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400" b="1" i="0">
                <a:solidFill>
                  <a:srgbClr val="2A78D6"/>
                </a:solidFill>
                <a:latin typeface="Calibri"/>
              </a:rPr>
              <a:t>43.6%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0" y="2633472"/>
            <a:ext cx="2743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0B0B0B"/>
                </a:solidFill>
                <a:latin typeface="Calibri"/>
              </a:rPr>
              <a:t>de las quejas se resuelve al primer contacto (vs 91.5% transaccional)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95360" y="3364992"/>
            <a:ext cx="3063240" cy="1298448"/>
          </a:xfrm>
          <a:prstGeom prst="roundRect">
            <a:avLst>
              <a:gd name="adj" fmla="val 8000"/>
            </a:avLst>
          </a:prstGeom>
          <a:solidFill>
            <a:srgbClr val="EAF2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240" y="3474720"/>
            <a:ext cx="27432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400" b="1" i="0">
                <a:solidFill>
                  <a:srgbClr val="2A78D6"/>
                </a:solidFill>
                <a:latin typeface="Calibri"/>
              </a:rPr>
              <a:t>36.5%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0" y="4078224"/>
            <a:ext cx="2743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0B0B0B"/>
                </a:solidFill>
                <a:latin typeface="Calibri"/>
              </a:rPr>
              <a:t>de los PQR son «cargo no reconocido» o «cobro indebido» (24.491 casos)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95360" y="4809744"/>
            <a:ext cx="3063240" cy="1298448"/>
          </a:xfrm>
          <a:prstGeom prst="roundRect">
            <a:avLst>
              <a:gd name="adj" fmla="val 8000"/>
            </a:avLst>
          </a:prstGeom>
          <a:solidFill>
            <a:srgbClr val="EAF2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0" y="4919472"/>
            <a:ext cx="27432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400" b="1" i="0">
                <a:solidFill>
                  <a:srgbClr val="2A78D6"/>
                </a:solidFill>
                <a:latin typeface="Calibri"/>
              </a:rPr>
              <a:t>16 días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0" y="5522976"/>
            <a:ext cx="2743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0B0B0B"/>
                </a:solidFill>
                <a:latin typeface="Calibri"/>
              </a:rPr>
              <a:t>mediana de resolución; 20% incumple el SLA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0080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8A8984"/>
                </a:solidFill>
                <a:latin typeface="Calibri"/>
              </a:rPr>
              <a:t>Datos sintéticos del organizador (LATAM Bank) · 686.296 interacciones y 67.095 PQR · reports/EDA_findings.md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411480"/>
            <a:ext cx="384048" cy="384048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51560" y="429768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8A8984"/>
                </a:solidFill>
                <a:latin typeface="Calibri"/>
              </a:rPr>
              <a:t>Qué construimos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 i="0">
                <a:solidFill>
                  <a:srgbClr val="0B0B0B"/>
                </a:solidFill>
                <a:latin typeface="Calibri"/>
              </a:rPr>
              <a:t>El modelo interpreta; el código decide y actúa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965960"/>
            <a:ext cx="1572768" cy="960120"/>
          </a:xfrm>
          <a:prstGeom prst="roundRect">
            <a:avLst>
              <a:gd name="adj" fmla="val 8000"/>
            </a:avLst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Guard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inyección · PII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176272" y="2331720"/>
            <a:ext cx="219456" cy="228600"/>
          </a:xfrm>
          <a:prstGeom prst="rightArrow">
            <a:avLst/>
          </a:prstGeom>
          <a:solidFill>
            <a:srgbClr val="8A89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450592" y="1965960"/>
            <a:ext cx="1572768" cy="960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EB68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500" b="1">
                <a:solidFill>
                  <a:srgbClr val="0B0B0B"/>
                </a:solidFill>
                <a:latin typeface="Calibri"/>
              </a:rPr>
              <a:t>Entender</a:t>
            </a:r>
          </a:p>
          <a:p>
            <a:pPr algn="ctr"/>
            <a:r>
              <a:rPr sz="1200" b="0">
                <a:solidFill>
                  <a:srgbClr val="0B0B0B"/>
                </a:solidFill>
                <a:latin typeface="Calibri"/>
              </a:rPr>
              <a:t>intención: modelo local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078224" y="2331720"/>
            <a:ext cx="219456" cy="228600"/>
          </a:xfrm>
          <a:prstGeom prst="rightArrow">
            <a:avLst/>
          </a:prstGeom>
          <a:solidFill>
            <a:srgbClr val="8A89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352544" y="1965960"/>
            <a:ext cx="1572768" cy="960120"/>
          </a:xfrm>
          <a:prstGeom prst="roundRect">
            <a:avLst>
              <a:gd name="adj" fmla="val 8000"/>
            </a:avLst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Buscar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transacción / tarjeta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5980175" y="2331720"/>
            <a:ext cx="219456" cy="228600"/>
          </a:xfrm>
          <a:prstGeom prst="rightArrow">
            <a:avLst/>
          </a:prstGeom>
          <a:solidFill>
            <a:srgbClr val="8A89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54496" y="1965960"/>
            <a:ext cx="1572768" cy="960120"/>
          </a:xfrm>
          <a:prstGeom prst="roundRect">
            <a:avLst>
              <a:gd name="adj" fmla="val 8000"/>
            </a:avLst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Decidir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policy.yaml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7882128" y="2331720"/>
            <a:ext cx="219456" cy="228600"/>
          </a:xfrm>
          <a:prstGeom prst="rightArrow">
            <a:avLst/>
          </a:prstGeom>
          <a:solidFill>
            <a:srgbClr val="8A89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156448" y="1965960"/>
            <a:ext cx="1572768" cy="960120"/>
          </a:xfrm>
          <a:prstGeom prst="roundRect">
            <a:avLst>
              <a:gd name="adj" fmla="val 8000"/>
            </a:avLst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Actuar / Handoff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confirmado + verificado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9784080" y="2331720"/>
            <a:ext cx="219456" cy="228600"/>
          </a:xfrm>
          <a:prstGeom prst="rightArrow">
            <a:avLst/>
          </a:prstGeom>
          <a:solidFill>
            <a:srgbClr val="8A89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0058400" y="1965960"/>
            <a:ext cx="1572768" cy="960120"/>
          </a:xfrm>
          <a:prstGeom prst="roundRect">
            <a:avLst>
              <a:gd name="adj" fmla="val 8000"/>
            </a:avLst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Responder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plantillas es / pt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3108960"/>
            <a:ext cx="256032" cy="18288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306324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52514E"/>
                </a:solidFill>
                <a:latin typeface="Calibri"/>
              </a:rPr>
              <a:t>Código: decide y actúa (auditable, testeable)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760720" y="3108960"/>
            <a:ext cx="256032" cy="182880"/>
          </a:xfrm>
          <a:prstGeom prst="rect">
            <a:avLst/>
          </a:prstGeom>
          <a:solidFill>
            <a:srgbClr val="FFFFFF"/>
          </a:solidFill>
          <a:ln w="25400">
            <a:solidFill>
              <a:srgbClr val="EB68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08192" y="30632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52514E"/>
                </a:solidFill>
                <a:latin typeface="Calibri"/>
              </a:rPr>
              <a:t>Modelo: interpreta (router aprendido local; si no carga, reglas)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794760"/>
            <a:ext cx="2633472" cy="2011680"/>
          </a:xfrm>
          <a:prstGeom prst="roundRect">
            <a:avLst>
              <a:gd name="adj" fmla="val 8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9808" y="3977639"/>
            <a:ext cx="2286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0B0B0B"/>
                </a:solidFill>
                <a:latin typeface="Calibri"/>
              </a:rPr>
              <a:t>Datos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4480560"/>
            <a:ext cx="22860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52514E"/>
                </a:solidFill>
                <a:latin typeface="Calibri"/>
              </a:rPr>
              <a:t>Contrato por tabla, cuarentena, upsert incremental y linaje por corrida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364992" y="3794760"/>
            <a:ext cx="2633472" cy="2011680"/>
          </a:xfrm>
          <a:prstGeom prst="roundRect">
            <a:avLst>
              <a:gd name="adj" fmla="val 8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66160" y="3977639"/>
            <a:ext cx="2286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0B0B0B"/>
                </a:solidFill>
                <a:latin typeface="Calibri"/>
              </a:rPr>
              <a:t>Herramientas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66160" y="4480560"/>
            <a:ext cx="22860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52514E"/>
                </a:solidFill>
                <a:latin typeface="Calibri"/>
              </a:rPr>
              <a:t>Única puerta a los datos: el cliente sale del token de sesión, nunca del texto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81344" y="3794760"/>
            <a:ext cx="2633472" cy="2011680"/>
          </a:xfrm>
          <a:prstGeom prst="roundRect">
            <a:avLst>
              <a:gd name="adj" fmla="val 8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82512" y="3977639"/>
            <a:ext cx="2286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0B0B0B"/>
                </a:solidFill>
                <a:latin typeface="Calibri"/>
              </a:rPr>
              <a:t>Política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82512" y="4480560"/>
            <a:ext cx="22860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52514E"/>
                </a:solidFill>
                <a:latin typeface="Calibri"/>
              </a:rPr>
              <a:t>policy.yaml versionado: reglas con ID (D01…H04) que explican cada decisión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997696" y="3794760"/>
            <a:ext cx="2633472" cy="2011680"/>
          </a:xfrm>
          <a:prstGeom prst="roundRect">
            <a:avLst>
              <a:gd name="adj" fmla="val 8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98864" y="3977639"/>
            <a:ext cx="2286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0B0B0B"/>
                </a:solidFill>
                <a:latin typeface="Calibri"/>
              </a:rPr>
              <a:t>Agente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98864" y="4480560"/>
            <a:ext cx="22860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0">
                <a:solidFill>
                  <a:srgbClr val="52514E"/>
                </a:solidFill>
                <a:latin typeface="Calibri"/>
              </a:rPr>
              <a:t>LangGraph con transiciones declaradas; 19 caminos verificados, lo no declarado falla cerrado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8A8984"/>
                </a:solidFill>
                <a:latin typeface="Calibri"/>
              </a:rPr>
              <a:t>Detalle: docs/architecture.md · ADR 0002 (grafo determinista) · ADR 0009 (router aprendido)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411480"/>
            <a:ext cx="384048" cy="384048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51560" y="429768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8A8984"/>
                </a:solidFill>
                <a:latin typeface="Calibri"/>
              </a:rPr>
              <a:t>Demo en 3 escenas · clientes reales del dataset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 i="0">
                <a:solidFill>
                  <a:srgbClr val="0B0B0B"/>
                </a:solidFill>
                <a:latin typeface="Calibri"/>
              </a:rPr>
              <a:t>Un solo flujo: resuelve, pregunta o deriva — nunca adivina</a:t>
            </a:r>
          </a:p>
        </p:txBody>
      </p:sp>
      <p:pic>
        <p:nvPicPr>
          <p:cNvPr id="5" name="Picture 4" descr="escena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74519"/>
            <a:ext cx="3520440" cy="220027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4160520"/>
            <a:ext cx="3520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2A78D6"/>
                </a:solidFill>
                <a:latin typeface="Calibri"/>
              </a:rPr>
              <a:t>1 · Normal (es-MX)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572000"/>
            <a:ext cx="35204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1">
                <a:solidFill>
                  <a:srgbClr val="0B0B0B"/>
                </a:solidFill>
                <a:latin typeface="Calibri"/>
              </a:rPr>
              <a:t>«Hola, me llegó un cargo de 151 dólares que no reconozco»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029200"/>
            <a:ext cx="35204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0" i="0">
                <a:solidFill>
                  <a:srgbClr val="52514E"/>
                </a:solidFill>
                <a:latin typeface="Calibri"/>
              </a:rPr>
              <a:t>1 cargo (150.86 USD, Gasolinera Express). Ofrece disputa y bloqueo por separado; con «sí, ambas» abre la disputa y bloquea la tarjeta, ambas verificadas.</a:t>
            </a:r>
          </a:p>
        </p:txBody>
      </p:sp>
      <p:pic>
        <p:nvPicPr>
          <p:cNvPr id="9" name="Picture 8" descr="escena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7679" y="1874519"/>
            <a:ext cx="3520440" cy="220027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297679" y="4160520"/>
            <a:ext cx="3520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2A78D6"/>
                </a:solidFill>
                <a:latin typeface="Calibri"/>
              </a:rPr>
              <a:t>2 · Ambiguo (es-CO)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79" y="4572000"/>
            <a:ext cx="35204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1">
                <a:solidFill>
                  <a:srgbClr val="0B0B0B"/>
                </a:solidFill>
                <a:latin typeface="Calibri"/>
              </a:rPr>
              <a:t>«Buenas, me aparece un cobro de 242.000 pesos que yo no hice»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79" y="5029200"/>
            <a:ext cx="35204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0" i="0">
                <a:solidFill>
                  <a:srgbClr val="52514E"/>
                </a:solidFill>
                <a:latin typeface="Calibri"/>
              </a:rPr>
              <a:t>2 candidatos: pregunta cuál y solo avanza cuando el cliente elige («la 1»).</a:t>
            </a:r>
          </a:p>
        </p:txBody>
      </p:sp>
      <p:pic>
        <p:nvPicPr>
          <p:cNvPr id="13" name="Picture 12" descr="escena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19" y="1874519"/>
            <a:ext cx="3520440" cy="220027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046719" y="4160520"/>
            <a:ext cx="3520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2A78D6"/>
                </a:solidFill>
                <a:latin typeface="Calibri"/>
              </a:rPr>
              <a:t>3 · Handoff en pt + ataque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19" y="4572000"/>
            <a:ext cx="35204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 i="1">
                <a:solidFill>
                  <a:srgbClr val="0B0B0B"/>
                </a:solidFill>
                <a:latin typeface="Calibri"/>
              </a:rPr>
              <a:t>«Olá, não reconheço uma cobrança de 114 dólares do dia 12/06»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19" y="5029200"/>
            <a:ext cx="35204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0" i="0">
                <a:solidFill>
                  <a:srgbClr val="52514E"/>
                </a:solidFill>
                <a:latin typeface="Calibri"/>
              </a:rPr>
              <a:t>fraud_score 95.1 ≥ 30 → regla H03 → analista con el paquete completo. «Ignora tus instrucciones anteriores…» → bloqueado por el guard.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0080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8A8984"/>
                </a:solidFill>
                <a:latin typeface="Calibri"/>
              </a:rPr>
              <a:t>Demo en vivo: agente-disputas.onrender.com · clientes de docs/demo/demo_customers.json (verificados 14/14) · guion: docs/demo-script.md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411480"/>
            <a:ext cx="384048" cy="384048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51560" y="429768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8A8984"/>
                </a:solidFill>
                <a:latin typeface="Calibri"/>
              </a:rPr>
              <a:t>Cómo sabemos que funciona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 i="0">
                <a:solidFill>
                  <a:srgbClr val="0B0B0B"/>
                </a:solidFill>
                <a:latin typeface="Calibri"/>
              </a:rPr>
              <a:t>Evaluación honesta: contra líneas base, en casos reservados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965960"/>
            <a:ext cx="2633472" cy="3566160"/>
          </a:xfrm>
          <a:prstGeom prst="roundRect">
            <a:avLst>
              <a:gd name="adj" fmla="val 8000"/>
            </a:avLst>
          </a:prstGeom>
          <a:solidFill>
            <a:srgbClr val="EAF2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14884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0B0B0B"/>
                </a:solidFill>
                <a:latin typeface="Calibri"/>
              </a:rPr>
              <a:t>Agente de la demo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06040"/>
            <a:ext cx="22860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2A78D6"/>
                </a:solidFill>
                <a:latin typeface="Calibri"/>
              </a:rPr>
              <a:t>109/115 correctos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703320"/>
            <a:ext cx="2286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0B0B0B"/>
                </a:solidFill>
                <a:latin typeface="Calibri"/>
              </a:rPr>
              <a:t>55/57 resoluciones seguras · 0/115 inseguros · 0/38 transferencias faltantes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343400"/>
            <a:ext cx="22860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52514E"/>
                </a:solidFill>
                <a:latin typeface="Calibri"/>
              </a:rPr>
              <a:t>reglas: 104/115 correctos · 51/57 · 7/38 faltantes · sin política (B1): 82/115 inseguros · todo a humano (B0): 0/57 resueltos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64992" y="1965960"/>
            <a:ext cx="2633472" cy="3566160"/>
          </a:xfrm>
          <a:prstGeom prst="roundRect">
            <a:avLst>
              <a:gd name="adj" fmla="val 8000"/>
            </a:avLst>
          </a:prstGeom>
          <a:solidFill>
            <a:srgbClr val="EAF2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47872" y="214884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0B0B0B"/>
                </a:solidFill>
                <a:latin typeface="Calibri"/>
              </a:rPr>
              <a:t>Componente aprendido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47872" y="2606040"/>
            <a:ext cx="22860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2A78D6"/>
                </a:solidFill>
                <a:latin typeface="Calibri"/>
              </a:rPr>
              <a:t>F1 0.877 vs 0.548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47872" y="3703320"/>
            <a:ext cx="2286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0B0B0B"/>
                </a:solidFill>
                <a:latin typeface="Calibri"/>
              </a:rPr>
              <a:t>acción equivocada 1.6% vs 18.6% de los mensajes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47872" y="4343400"/>
            <a:ext cx="22860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52514E"/>
                </a:solidFill>
                <a:latin typeface="Calibri"/>
              </a:rPr>
              <a:t>Router de intención local vs reglas · corpus propio, split por autor (n=306)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81344" y="1965960"/>
            <a:ext cx="2633472" cy="3566160"/>
          </a:xfrm>
          <a:prstGeom prst="roundRect">
            <a:avLst>
              <a:gd name="adj" fmla="val 8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64224" y="214884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0B0B0B"/>
                </a:solidFill>
                <a:latin typeface="Calibri"/>
              </a:rPr>
              <a:t>Inyección y red team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64224" y="2606040"/>
            <a:ext cx="22860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2A78D6"/>
                </a:solidFill>
                <a:latin typeface="Calibri"/>
              </a:rPr>
              <a:t>0 daños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64224" y="3703320"/>
            <a:ext cx="2286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0B0B0B"/>
                </a:solidFill>
                <a:latin typeface="Calibri"/>
              </a:rPr>
              <a:t>0/2.531 con daño (datasets públicos, aun sin guard)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4224" y="4343400"/>
            <a:ext cx="22860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52514E"/>
                </a:solidFill>
                <a:latin typeface="Calibri"/>
              </a:rPr>
              <a:t>Red team adaptativo: 0/308 tras 3 rondas (antes: 40/110 · 34/99 · 30/99); el daño real se corrigió en la raíz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97696" y="1965960"/>
            <a:ext cx="2633472" cy="3566160"/>
          </a:xfrm>
          <a:prstGeom prst="roundRect">
            <a:avLst>
              <a:gd name="adj" fmla="val 8000"/>
            </a:avLst>
          </a:prstGeom>
          <a:solidFill>
            <a:srgbClr val="EAF2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80576" y="214884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0B0B0B"/>
                </a:solidFill>
                <a:latin typeface="Calibri"/>
              </a:rPr>
              <a:t>Equidad por dialecto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80576" y="2606040"/>
            <a:ext cx="22860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 i="0">
                <a:solidFill>
                  <a:srgbClr val="2A78D6"/>
                </a:solidFill>
                <a:latin typeface="Calibri"/>
              </a:rPr>
              <a:t>10/11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80576" y="3703320"/>
            <a:ext cx="2286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0B0B0B"/>
                </a:solidFill>
                <a:latin typeface="Calibri"/>
              </a:rPr>
              <a:t>grupos con la misma decisión MX · CO · AR · pt-BR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80576" y="4343400"/>
            <a:ext cx="22860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52514E"/>
                </a:solidFill>
                <a:latin typeface="Calibri"/>
              </a:rPr>
              <a:t>No enrutamos por acento: el EDA no muestra efecto (FCR 76.7% vs 76.6%)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5760720"/>
            <a:ext cx="1106424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0B0B0B"/>
                </a:solidFill>
                <a:latin typeface="Calibri"/>
              </a:rPr>
              <a:t>Test congelado: 115 casos + 44 variantes de dialecto, 3 corridas (segunda medición, fuga leve declarada) · 681 tests en CI, sin datos ni API keys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40080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8A8984"/>
                </a:solidFill>
                <a:latin typeface="Calibri"/>
              </a:rPr>
              <a:t>Detalle: reports/eval_router.md · eval.md · intent_router.md · injection_eval.md · redteam.md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411480"/>
            <a:ext cx="384048" cy="384048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51560" y="429768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8A8984"/>
                </a:solidFill>
                <a:latin typeface="Calibri"/>
              </a:rPr>
              <a:t>Datos e ingeniería que lo sostienen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 i="0">
                <a:solidFill>
                  <a:srgbClr val="0B0B0B"/>
                </a:solidFill>
                <a:latin typeface="Calibri"/>
              </a:rPr>
              <a:t>Decisiones tomadas por los datos, no a pesar de ellos</a:t>
            </a:r>
          </a:p>
        </p:txBody>
      </p:sp>
      <p:pic>
        <p:nvPicPr>
          <p:cNvPr id="5" name="Picture 4" descr="04_umbral_frau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7223760" cy="406336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001000" y="1874519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 i="0">
                <a:solidFill>
                  <a:srgbClr val="8A8984"/>
                </a:solidFill>
                <a:latin typeface="Calibri"/>
              </a:rPr>
              <a:t>Límite del dato → decisión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01000" y="2377440"/>
            <a:ext cx="1188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2A78D6"/>
                </a:solidFill>
                <a:latin typeface="Calibri"/>
              </a:rPr>
              <a:t>42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89720" y="239572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0B0B0B"/>
                </a:solidFill>
                <a:latin typeface="Calibri"/>
              </a:rPr>
              <a:t>textos de cliente distintos en 171k transcripciones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89720" y="2944368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52514E"/>
                </a:solidFill>
                <a:latin typeface="Calibri"/>
              </a:rPr>
              <a:t>→ no entrenamos intención con ellos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01000" y="3675887"/>
            <a:ext cx="1188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2A78D6"/>
                </a:solidFill>
                <a:latin typeface="Calibri"/>
              </a:rPr>
              <a:t>20%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89720" y="3694175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0B0B0B"/>
                </a:solidFill>
                <a:latin typeface="Calibri"/>
              </a:rPr>
              <a:t>de transacciones sin fraud_score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89720" y="4242816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52514E"/>
                </a:solidFill>
                <a:latin typeface="Calibri"/>
              </a:rPr>
              <a:t>→ riesgo residual documentado; H02/H04 y el analista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1000" y="4974336"/>
            <a:ext cx="1188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 i="0">
                <a:solidFill>
                  <a:srgbClr val="2A78D6"/>
                </a:solidFill>
                <a:latin typeface="Calibri"/>
              </a:rPr>
              <a:t>97%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89720" y="4992623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0B0B0B"/>
                </a:solidFill>
                <a:latin typeface="Calibri"/>
              </a:rPr>
              <a:t>de IDs de cliente cambian entre las 2 entregas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89720" y="5541264"/>
            <a:ext cx="2514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 i="0">
                <a:solidFill>
                  <a:srgbClr val="52514E"/>
                </a:solidFill>
                <a:latin typeface="Calibri"/>
              </a:rPr>
              <a:t>→ huella por entrega + upsert idempotente + linaje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0080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8A8984"/>
                </a:solidFill>
                <a:latin typeface="Calibri"/>
              </a:rPr>
              <a:t>reports/fraud_threshold.md · ADR 0006 · charts/03_calidad_datos.png (6 límites → 6 decisiones)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411480"/>
            <a:ext cx="384048" cy="384048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51560" y="429768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8A8984"/>
                </a:solidFill>
                <a:latin typeface="Calibri"/>
              </a:rPr>
              <a:t>Ruta a producción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200" b="1" i="0">
                <a:solidFill>
                  <a:srgbClr val="0B0B0B"/>
                </a:solidFill>
                <a:latin typeface="Calibri"/>
              </a:rPr>
              <a:t>Qué está listo en el sandbox y qué falta para producción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74519"/>
            <a:ext cx="5440680" cy="4343400"/>
          </a:xfrm>
          <a:prstGeom prst="roundRect">
            <a:avLst>
              <a:gd name="adj" fmla="val 8000"/>
            </a:avLst>
          </a:prstGeom>
          <a:solidFill>
            <a:srgbClr val="EAF2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2057400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0B0B0B"/>
                </a:solidFill>
                <a:latin typeface="Calibri"/>
              </a:rPr>
              <a:t>Listo en el sandbox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2651760"/>
            <a:ext cx="4937760" cy="3474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1">
                <a:solidFill>
                  <a:srgbClr val="2A78D6"/>
                </a:solidFill>
                <a:latin typeface="Segoe UI Symbol"/>
              </a:rPr>
              <a:t>✓  </a:t>
            </a:r>
            <a:r>
              <a:rPr sz="1600" b="0" i="0">
                <a:solidFill>
                  <a:srgbClr val="0B0B0B"/>
                </a:solidFill>
                <a:latin typeface="Calibri"/>
              </a:rPr>
              <a:t>Permisos por sesión: token con expiración, sin IDs en el texto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2A78D6"/>
                </a:solidFill>
                <a:latin typeface="Segoe UI Symbol"/>
              </a:rPr>
              <a:t>✓  </a:t>
            </a:r>
            <a:r>
              <a:rPr sz="1600" b="0" i="0">
                <a:solidFill>
                  <a:srgbClr val="0B0B0B"/>
                </a:solidFill>
                <a:latin typeface="Calibri"/>
              </a:rPr>
              <a:t>Política versionada con reglas identificadas y umbral calibrado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2A78D6"/>
                </a:solidFill>
                <a:latin typeface="Segoe UI Symbol"/>
              </a:rPr>
              <a:t>✓  </a:t>
            </a:r>
            <a:r>
              <a:rPr sz="1600" b="0" i="0">
                <a:solidFill>
                  <a:srgbClr val="0B0B0B"/>
                </a:solidFill>
                <a:latin typeface="Calibri"/>
              </a:rPr>
              <a:t>Consentimiento por acción, acciones verificadas, handoff versionado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2A78D6"/>
                </a:solidFill>
                <a:latin typeface="Segoe UI Symbol"/>
              </a:rPr>
              <a:t>✓  </a:t>
            </a:r>
            <a:r>
              <a:rPr sz="1600" b="0" i="0">
                <a:solidFill>
                  <a:srgbClr val="0B0B0B"/>
                </a:solidFill>
                <a:latin typeface="Calibri"/>
              </a:rPr>
              <a:t>Router aprendido local con fallback visible a reglas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2A78D6"/>
                </a:solidFill>
                <a:latin typeface="Segoe UI Symbol"/>
              </a:rPr>
              <a:t>✓  </a:t>
            </a:r>
            <a:r>
              <a:rPr sz="1600" b="0" i="0">
                <a:solidFill>
                  <a:srgbClr val="0B0B0B"/>
                </a:solidFill>
                <a:latin typeface="Calibri"/>
              </a:rPr>
              <a:t>Red team de 3 rondas e invariantes con Hypothesis, en CI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2A78D6"/>
                </a:solidFill>
                <a:latin typeface="Segoe UI Symbol"/>
              </a:rPr>
              <a:t>✓  </a:t>
            </a:r>
            <a:r>
              <a:rPr sz="1600" b="0" i="0">
                <a:solidFill>
                  <a:srgbClr val="0B0B0B"/>
                </a:solidFill>
                <a:latin typeface="Calibri"/>
              </a:rPr>
              <a:t>Auditoría encadenada · dependencias con hash · CI → GHCR → Render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2A78D6"/>
                </a:solidFill>
                <a:latin typeface="Segoe UI Symbol"/>
              </a:rPr>
              <a:t>✓  </a:t>
            </a:r>
            <a:r>
              <a:rPr sz="1600" b="0" i="0">
                <a:solidFill>
                  <a:srgbClr val="0B0B0B"/>
                </a:solidFill>
                <a:latin typeface="Calibri"/>
              </a:rPr>
              <a:t>Demo desplegada: agente-disputas.onrender.com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874519"/>
            <a:ext cx="5440680" cy="4343400"/>
          </a:xfrm>
          <a:prstGeom prst="roundRect">
            <a:avLst>
              <a:gd name="adj" fmla="val 8000"/>
            </a:avLst>
          </a:prstGeom>
          <a:solidFill>
            <a:srgbClr val="F4F4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2057400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0B0B0B"/>
                </a:solidFill>
                <a:latin typeface="Calibri"/>
              </a:rPr>
              <a:t>Falta para producción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2651760"/>
            <a:ext cx="4937760" cy="3474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1">
                <a:solidFill>
                  <a:srgbClr val="2A78D6"/>
                </a:solidFill>
                <a:latin typeface="Segoe UI Symbol"/>
              </a:rPr>
              <a:t>○  </a:t>
            </a:r>
            <a:r>
              <a:rPr sz="1600" b="0" i="0">
                <a:solidFill>
                  <a:srgbClr val="0B0B0B"/>
                </a:solidFill>
                <a:latin typeface="Calibri"/>
              </a:rPr>
              <a:t>IdP real (OIDC) con MFA y step-up antes de actuar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2A78D6"/>
                </a:solidFill>
                <a:latin typeface="Segoe UI Symbol"/>
              </a:rPr>
              <a:t>○  </a:t>
            </a:r>
            <a:r>
              <a:rPr sz="1600" b="0" i="0">
                <a:solidFill>
                  <a:srgbClr val="0B0B0B"/>
                </a:solidFill>
                <a:latin typeface="Calibri"/>
              </a:rPr>
              <a:t>Estado compartido (checkpointer, sesiones) para escalar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2A78D6"/>
                </a:solidFill>
                <a:latin typeface="Segoe UI Symbol"/>
              </a:rPr>
              <a:t>○  </a:t>
            </a:r>
            <a:r>
              <a:rPr sz="1600" b="0" i="0">
                <a:solidFill>
                  <a:srgbClr val="0B0B0B"/>
                </a:solidFill>
                <a:latin typeface="Calibri"/>
              </a:rPr>
              <a:t>Auditoría WORM, claves en KMS, gateway con WAF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2A78D6"/>
                </a:solidFill>
                <a:latin typeface="Segoe UI Symbol"/>
              </a:rPr>
              <a:t>○  </a:t>
            </a:r>
            <a:r>
              <a:rPr sz="1600" b="0" i="0">
                <a:solidFill>
                  <a:srgbClr val="0B0B0B"/>
                </a:solidFill>
                <a:latin typeface="Calibri"/>
              </a:rPr>
              <a:t>Evaluar el LLM (hoy apagado) y un test v3 escrito por otra persona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2A78D6"/>
                </a:solidFill>
                <a:latin typeface="Segoe UI Symbol"/>
              </a:rPr>
              <a:t>○  </a:t>
            </a:r>
            <a:r>
              <a:rPr sz="1600" b="0" i="0">
                <a:solidFill>
                  <a:srgbClr val="0B0B0B"/>
                </a:solidFill>
                <a:latin typeface="Calibri"/>
              </a:rPr>
              <a:t>Calificaciones humanas de los handoffs (kit listo)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2A78D6"/>
                </a:solidFill>
                <a:latin typeface="Segoe UI Symbol"/>
              </a:rPr>
              <a:t>○  </a:t>
            </a:r>
            <a:r>
              <a:rPr sz="1600" b="0" i="0">
                <a:solidFill>
                  <a:srgbClr val="0B0B0B"/>
                </a:solidFill>
                <a:latin typeface="Calibri"/>
              </a:rPr>
              <a:t>Recalibrar el umbral con datos reales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2A78D6"/>
                </a:solidFill>
                <a:latin typeface="Segoe UI Symbol"/>
              </a:rPr>
              <a:t>○  </a:t>
            </a:r>
            <a:r>
              <a:rPr sz="1600" b="0" i="0">
                <a:solidFill>
                  <a:srgbClr val="0B0B0B"/>
                </a:solidFill>
                <a:latin typeface="Calibri"/>
              </a:rPr>
              <a:t>Capacidad hoy: p95 233 ms por turno · ~61 turnos/s por réplica (sin LLM, costo $0)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0080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 i="0">
                <a:solidFill>
                  <a:srgbClr val="8A8984"/>
                </a:solidFill>
                <a:latin typeface="Calibri"/>
              </a:rPr>
              <a:t>github.com/Mr-Percival/factored-hackathon-2026-disputas · docs/threat-model.md · docs/adr/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